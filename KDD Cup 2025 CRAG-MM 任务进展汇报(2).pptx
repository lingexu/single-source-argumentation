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  <p:sldMasterId id="2147483672" r:id="rId9"/>
  </p:sldMasterIdLst>
  <p:notesMasterIdLst>
    <p:notesMasterId r:id="rId11"/>
  </p:notesMasterIdLst>
  <p:sldIdLst>
    <p:sldId id="273" r:id="rId10"/>
    <p:sldId id="272" r:id="rId12"/>
    <p:sldId id="277" r:id="rId13"/>
    <p:sldId id="257" r:id="rId14"/>
    <p:sldId id="258" r:id="rId15"/>
    <p:sldId id="259" r:id="rId16"/>
    <p:sldId id="260" r:id="rId17"/>
    <p:sldId id="274" r:id="rId18"/>
    <p:sldId id="262" r:id="rId19"/>
    <p:sldId id="263" r:id="rId20"/>
    <p:sldId id="264" r:id="rId21"/>
    <p:sldId id="275" r:id="rId22"/>
    <p:sldId id="266" r:id="rId23"/>
    <p:sldId id="267" r:id="rId24"/>
    <p:sldId id="268" r:id="rId25"/>
    <p:sldId id="276" r:id="rId26"/>
    <p:sldId id="269" r:id="rId27"/>
    <p:sldId id="270" r:id="rId28"/>
    <p:sldId id="271" r:id="rId29"/>
    <p:sldId id="279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704020202020204"/>
      <a:defRPr sz="1400" b="0" i="0" u="none" strike="noStrike" cap="none">
        <a:solidFill>
          <a:srgbClr val="000000"/>
        </a:solidFill>
        <a:latin typeface="Arial" panose="020B0704020202020204"/>
        <a:ea typeface="Arial" panose="020B0704020202020204"/>
        <a:cs typeface="Arial" panose="020B0704020202020204"/>
        <a:sym typeface="Arial" panose="020B07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0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0" Type="http://schemas.openxmlformats.org/officeDocument/2006/relationships/slide" Target="slides/slide10.xml"/><Relationship Id="rId2" Type="http://schemas.openxmlformats.org/officeDocument/2006/relationships/theme" Target="theme/theme1.xml"/><Relationship Id="rId19" Type="http://schemas.openxmlformats.org/officeDocument/2006/relationships/slide" Target="slides/slide9.xml"/><Relationship Id="rId18" Type="http://schemas.openxmlformats.org/officeDocument/2006/relationships/slide" Target="slides/slide8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这一页展示了我们当前的整体进展。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首先在左侧，我们已经按计划完成了两个核心技术任务。第一，单源增强系统，我们已经基于知识图谱搭建完成并打通了链路。第二，在此基础上，我们进一步完成了多源增强系统，把 Web 搜索作为新的补充信息源，极大扩展了系统的知识边界。同时，我们还同步完成了本地评估框架的搭建。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右侧的数据直观展示了各部分的完成度：两个核心任务均已 100% 完成，评估框架也已就绪。目前所有基础建设工作已经收尾，可以进入下一步的联调和效果验证阶段。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这一页展示了我们当前的整体进展。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首先在左侧，我们已经按计划完成了两个核心技术任务。第一，单源增强系统，我们已经基于知识图谱搭建完成并打通了链路。第二，在此基础上，我们进一步完成了多源增强系统，把 Web 搜索作为新的补充信息源，极大扩展了系统的知识边界。同时，我们还同步完成了本地评估框架的搭建。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右侧的数据直观展示了各部分的完成度：两个核心任务均已 100% 完成，评估框架也已就绪。目前所有基础建设工作已经收尾，可以进入下一步的联调和效果验证阶段。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这一页展示了我们当前的整体进展。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首先在左侧，我们已经按计划完成了两个核心技术任务。第一，单源增强系统，我们已经基于知识图谱搭建完成并打通了链路。第二，在此基础上，我们进一步完成了多源增强系统，把 Web 搜索作为新的补充信息源，极大扩展了系统的知识边界。同时，我们还同步完成了本地评估框架的搭建。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右侧的数据直观展示了各部分的完成度：两个核心任务均已 100% 完成，评估框架也已就绪。目前所有基础建设工作已经收尾，可以进入下一步的联调和效果验证阶段。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这一页展示了我们当前的整体进展。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首先在左侧，我们已经按计划完成了两个核心技术任务。第一，单源增强系统，我们已经基于知识图谱搭建完成并打通了链路。第二，在此基础上，我们进一步完成了多源增强系统，把 Web 搜索作为新的补充信息源，极大扩展了系统的知识边界。同时，我们还同步完成了本地评估框架的搭建。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右侧的数据直观展示了各部分的完成度：两个核心任务均已 100% 完成，评估框架也已就绪。目前所有基础建设工作已经收尾，可以进入下一步的联调和效果验证阶段。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本页主要介绍 Task 1“单源增强”的目前进展。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首先看左侧，这个任务的定义非常明确，就是仅使用图像检索API，通过CLIP匹配KG实体来获取信息，最终由VLM生成答案。这是一个完全基于外部检索而非模型内部知识的流程。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在这个任务中，最大的挑战在于如何控制幻觉。我们必须保证，一旦信息不足，模型必须诚实回答“I don't know”。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目前我们已经适配了包括苹果芯片和英伟达GPU在内的双平台运行环境。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右侧展示了整个技术实现的7步流水线。从查询分类开始，经过检索、规则和文本的提取，构建好提示词，交给VLM生成，最后再经过严格的后处理，确保答案的准确和安全。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 Task 2 在多源增强方面的进展。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首先，左侧是我们的任务定义，我们要做的不仅仅是加一个搜索功能，而是构建一个同时能访问图像知识图谱和网页搜索的多源 RAG 系统。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这直接带来了系统检索模式的升级，从原来单一的图谱检索，变成了结构化知识和非结构化网络信息的协同互补，极大地减少了因为数据缺失造成的回答错误。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右侧列出了我们新增的三个核心能力：完整的 Web 搜索流程、双源的融合策略以及针对不同来源的查询重构。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最后，在工程上，我们统一了 Agent 的基类，让新旧两个任务可以独立运行，方便做对比测试。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本页展示了两个任务的初步性能对比数据。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首先看最关键的准确率（Accuracy），Task 1 仅为 0%，而 Task 2 提升至 31.73%，这表明引入 KG 和 Web 信息对回答正确性有显著帮助。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缺失率（Missing Rate）从 71% 大幅下降至 32%，说明我们现在能回答更多之前无法回答的问题。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幻觉率小幅上升，真实性得分有所提升，这是一个权衡，因为模型现在生成了更多回答，需要进一步优化。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这一页展示了我们当前的整体进展。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首先在左侧，我们已经按计划完成了两个核心技术任务。第一，单源增强系统，我们已经基于知识图谱搭建完成并打通了链路。第二，在此基础上，我们进一步完成了多源增强系统，把 Web 搜索作为新的补充信息源，极大扩展了系统的知识边界。同时，我们还同步完成了本地评估框架的搭建。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右侧的数据直观展示了各部分的完成度：两个核心任务均已 100% 完成，评估框架也已就绪。目前所有基础建设工作已经收尾，可以进入下一步的联调和效果验证阶段。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这一页展示了我们为 Task 1 设计的单源架构的总体处理框架，它是一条包含七个关键步骤的流水线。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首先，在第一排的处理流程中，系统接收“图片+问题”作为输入后，第一步会对查询意图进行分类，判断是视觉类、知识类、推理类还是比较类问题。第二步，基于分类结果，系统利用 CLIP 特征匹配在知识库（KG）中进行检索，并通过预设的阈值过滤掉低相关度信息。第三步，规则引擎会对初步检索结果进行快速的结构化提取。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接下来，在第二排的处理流程中，系统会将提取到的信息进一步整理成结构化文本。随后，根据任务要求构建包含上下文的 Few-shot Prompt。之后，将 Prompt 和原始输入一起送入核心的 Qwen2-VL 模型进行推理。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最后，生成的回答会经过后处理和置信度评估，只有符合要求的结果才会输出，否则系统将返回“IDK”（我不知道）。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本页展示了 Task 2 多源架构的总体框架。该架构采用双源并行检索的设计思路，核心是充分结合知识图谱的结构化与权威性，以及互联网的实时性与丰富性。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首先，系统接收图像和用户问题作为输入，经过统一查询分析，识别核心实体和用户意图。随后，任务被分发到两个并行的检索引擎：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左侧的知识图谱检索，通过 CLIP 召回相似实体，再进行精筛和属性提取，确保结构化知识的准确。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右侧的互联网检索，则是动态生成查询，对结果进行严格的三级噪声过滤，确保实时信息的干净与相关。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最后，这两路结果按照 KG 优先、Web 次之的顺序进行融合，构建出最终的 Prompt 输入给 VLM，并经过后处理与置信度校准，从而生成高质量的答案。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本页主要展示了 CRAG_MM_Proj 的整体代码结构设计。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大家请看左侧，这是项目的核心目录。整个项目以 CRAG_MM_Proj 为根目录，其中最重要的逻辑层是 agents 文件夹，里面包含了所有的业务逻辑实现。我们可以看到，从基础的 BaseAgent 抽象类，到针对不同任务的 TaskAgent，再到具体的 RAG 和获奖方案的 MLLM 实现，都集中在这里。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根目录下还包含了本地评估脚本和检索管线相关的组件，各司其职。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右侧总结了这套代码结构的两个主要设计亮点：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第一，高度模块化。各个功能模块之间低耦合，使得我们在测试不同的增强方案时，可以像搭积木一样快速组合。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第二，统一的 Agent 接口。这是我们设计的精髓，所有 Agent 都继承同一个基类，这意味着我们想对比不同 Agent 的效果时，完全不需要改动上层的调用代码，只需要改一行配置，就能在同一个环境下进行公平对比。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这一页展示了我们当前的整体进展。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首先在左侧，我们已经按计划完成了两个核心技术任务。第一，单源增强系统，我们已经基于知识图谱搭建完成并打通了链路。第二，在此基础上，我们进一步完成了多源增强系统，把 Web 搜索作为新的补充信息源，极大扩展了系统的知识边界。同时，我们还同步完成了本地评估框架的搭建。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右侧的数据直观展示了各部分的完成度：两个核心任务均已 100% 完成，评估框架也已就绪。目前所有基础建设工作已经收尾，可以进入下一步的联调和效果验证阶段。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这一页我们详细介绍两个关键的创新方法，它们分别解决了信息搜索和信息整合的难题。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左侧的“查询感知的KG实体名增强Web搜索”。我们发现，直接使用用户的原始问题去做Web搜索，召回率往往很低。我们的解决办法是先用知识图谱识别出问题中的核心实体，再把实体名拼接到搜索词中。这样做的直接效果是，Web搜索的结果会变得非常精准，直接关联到我们关心的实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展示的是“分层信息源优先级策略”。在我们的系统中，有知识图谱、Web搜索和图像这几种信息来源，它们有时会给出互相冲突的信息。为此，我们通过系统提示词制定了严格的优先级规则：知识图谱的结构化数据优先级最高，其次是Web搜索结果，图像则具有最终的否决权。这个策略有效地解决了信息冲突，保证了最终回答的一致性和准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这一页主要展示我们在 Web 检索环节的两项关键创新。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首先是左侧的“多模式 Web 噪声过滤”。针对网络数据中大量的干扰信息，我们设计了三级递进的过滤管线：先清洗 HTML 等格式噪音，再利用正则精准剔除广告和 Cookie 声明等，最后通过 BGE 模型进行语义重排，只保留最相关的内容。这样极大地减少了后续需要处理的文本量。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右侧展示的是“查询类型自适应检索策略”。我们并没有对所有查询都“一刀切”地去做 Web 检索，而是设计了轻量级的分类器。对于视觉类问题，直接跳过检索以保证速度；而对于需要事实、推理的知识类问题，则强制执行检索确保准确。这整个过程不需要额外的 LLM 调用，非常高效。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本页重点介绍我们在生成逻辑上的两个核心创新，旨在解决准确性和可靠性问题。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侧是双通道答案生成机制。我们设计了两条并行路径：路径A利用规则和知识图谱，实现快速精准的结构化回答；路径B利用VLM处理复杂的多模态信息。通过智能的回退融合逻辑，当模型无法生成有效答案时，自动切换回路径A，保证系统的可用性底线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是配套的双源联合置信度校准。这是为了对抗幻觉。我们设定了严格的强制“IDK”机制，在知识和网络双重缺失时，绝不编造答案。通过对图谱和网络信息进行交叉验证打分，实现了比单源更高的回答可靠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这一页展示了我们当前的整体进展。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首先在左侧，我们已经按计划完成了两个核心技术任务。第一，单源增强系统，我们已经基于知识图谱搭建完成并打通了链路。第二，在此基础上，我们进一步完成了多源增强系统，把 Web 搜索作为新的补充信息源，极大扩展了系统的知识边界。同时，我们还同步完成了本地评估框架的搭建。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右侧的数据直观展示了各部分的完成度：两个核心任务均已 100% 完成，评估框架也已就绪。目前所有基础建设工作已经收尾，可以进入下一步的联调和效果验证阶段。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这一页展示了我们在未来1到2周内的短期优化规划，主要分为三个优先级层级。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首先是P0级的核心必做项，重点在于模型能力的升级和评估体系的建立。我们将VLM模型从2B提升至7B或11B，预计能直接提升15%到20%的准确率；同时引入GPT-4o-mini作为外部评估基线，确保我们有一个客观的衡量标准。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其次是P1级的重点优化项，侧重于Prompt工程和能力扩展。通过优化系统指令并增加Few-shot示例来减少幻觉问题，预期降低5%-8%；同时接入图像摘要模块，以提升对包含图片内容的召回率。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最后是P2级的体验完善项，主要解决Web内容深度获取的问题，确保模型能看到更完整的上下文信息，进一步巩固最终效果。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接下来，我向大家汇报我们在未来两个月内的后续规划，主要分为中期和长期两个阶段。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中期，也就是未来2到4周，我们将聚焦于架构的优化和检索精度的提升。核心任务包括引入BGE-reranker模型来提升检索精度，实施两阶段检索策略，落地查询改写，并建立多Agent协同机制。这一阶段的目标是打好地基，提升基础能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随后是长期规划，在4到8周内，我们将致力于提升系统的深度竞争力。重点解决幻觉问题，引入自一致性投票机制，建立置信度模型，并对VLM进行微调，最终实现向复杂多轮对话场景的能力迁移。这一阶段将让我们的系统更加可靠和强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这一页主要展示我们在技术债务清理方面的具体规划。目前我们列出了四个必须完成的任务。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首先，左侧的两个任务聚焦于代码层面的修复和重构。一是解决 ChromaDB 的分页 Bug，去除临时补丁；二是统一两个主要任务的公共逻辑，减少代码冗余。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右侧则是关于质量保障的建设。我们将补充核心模块的单元测试，并建立自动化的评估脚本，让每一次代码改动都能自动通过验证集测试，确保系统的长期稳定性。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7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7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7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7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7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7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7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7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7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704020202020204"/>
        <a:defRPr sz="1400" b="0" i="0" u="none" strike="noStrike" cap="none">
          <a:solidFill>
            <a:srgbClr val="000000"/>
          </a:solidFill>
          <a:latin typeface="Arial" panose="020B0704020202020204"/>
          <a:ea typeface="Arial" panose="020B0704020202020204"/>
          <a:cs typeface="Arial" panose="020B0704020202020204"/>
          <a:sym typeface="Arial" panose="020B07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59635" y="1463040"/>
            <a:ext cx="8081010" cy="1088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lnSpc>
                <a:spcPct val="108000"/>
              </a:lnSpc>
              <a:defRPr/>
            </a:pPr>
            <a:r>
              <a:rPr lang="zh-CN" altLang="en-US" sz="6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夏季实训中期</a:t>
            </a:r>
            <a:r>
              <a:rPr lang="zh-CN" altLang="en-US" sz="6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</a:t>
            </a:r>
            <a:endParaRPr lang="zh-CN" altLang="en-US" sz="60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48000" y="3231515"/>
            <a:ext cx="6096000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lnSpc>
                <a:spcPct val="108000"/>
              </a:lnSpc>
              <a:defRPr/>
            </a:pPr>
            <a:r>
              <a:rPr lang="zh-CN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</a:t>
            </a:r>
            <a:r>
              <a:rPr lang="en-US" altLang="zh-CN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</a:t>
            </a:r>
            <a:r>
              <a:rPr lang="zh-CN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</a:t>
            </a:r>
            <a:endParaRPr lang="zh-CN" altLang="en-US" sz="20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46860" y="4183380"/>
            <a:ext cx="5062855" cy="21418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l">
              <a:lnSpc>
                <a:spcPct val="108000"/>
              </a:lnSpc>
              <a:defRPr/>
            </a:pPr>
            <a:r>
              <a:rPr lang="zh-CN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组长（徐麟阁）：</a:t>
            </a:r>
            <a:r>
              <a:rPr lang="en-US" altLang="zh-CN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KG</a:t>
            </a:r>
            <a:r>
              <a:rPr lang="zh-CN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检索优化</a:t>
            </a:r>
            <a:endParaRPr lang="zh-CN" altLang="en-US" sz="20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endParaRPr lang="zh-CN" altLang="en-US" sz="20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zh-CN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组员（薛沣时）：</a:t>
            </a:r>
            <a:r>
              <a:rPr lang="en-US" altLang="zh-CN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VLM+Prompt</a:t>
            </a:r>
            <a:endParaRPr lang="en-US" altLang="zh-CN" sz="20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endParaRPr lang="zh-CN" altLang="en-US" sz="20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zh-CN" altLang="en-US" sz="2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组员（张桂银）：实验+输出</a:t>
            </a:r>
            <a:endParaRPr lang="en-US" altLang="zh-CN" sz="20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utoShape 4"/>
          <p:cNvSpPr/>
          <p:nvPr>
            <p:custDataLst>
              <p:tags r:id="rId1"/>
            </p:custDataLst>
          </p:nvPr>
        </p:nvSpPr>
        <p:spPr>
          <a:xfrm>
            <a:off x="762000" y="2413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30" name="AutoShape 5"/>
          <p:cNvSpPr/>
          <p:nvPr>
            <p:custDataLst>
              <p:tags r:id="rId2"/>
            </p:custDataLst>
          </p:nvPr>
        </p:nvSpPr>
        <p:spPr>
          <a:xfrm>
            <a:off x="2286000" y="2489200"/>
            <a:ext cx="863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目前进展</a:t>
            </a:r>
            <a:r>
              <a:rPr lang="en-US" sz="1400" b="0" i="0" u="none" strike="noStrike">
                <a:solidFill>
                  <a:schemeClr val="tx1">
                    <a:alpha val="5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｜ 梳理项目当前核心成果与阶段性完成度，明确关键里程碑落地</a:t>
            </a:r>
            <a:r>
              <a:rPr lang="en-US" sz="1400" b="0" i="0" u="none" strike="noStrike">
                <a:solidFill>
                  <a:srgbClr val="FFFFFF">
                    <a:alpha val="5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情况</a:t>
            </a:r>
            <a:endParaRPr lang="en-US" sz="1100"/>
          </a:p>
        </p:txBody>
      </p:sp>
      <p:sp>
        <p:nvSpPr>
          <p:cNvPr id="31" name="AutoShape 6"/>
          <p:cNvSpPr/>
          <p:nvPr>
            <p:custDataLst>
              <p:tags r:id="rId3"/>
            </p:custDataLst>
          </p:nvPr>
        </p:nvSpPr>
        <p:spPr>
          <a:xfrm>
            <a:off x="762000" y="3683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32" name="AutoShape 7"/>
          <p:cNvSpPr/>
          <p:nvPr>
            <p:custDataLst>
              <p:tags r:id="rId4"/>
            </p:custDataLst>
          </p:nvPr>
        </p:nvSpPr>
        <p:spPr>
          <a:xfrm>
            <a:off x="2286000" y="3759200"/>
            <a:ext cx="863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总体框架</a:t>
            </a:r>
            <a:r>
              <a:rPr lang="en-US" sz="1400" b="0" i="0" u="none" strike="noStrike">
                <a:solidFill>
                  <a:schemeClr val="tx1">
                    <a:alpha val="5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｜ 解析项目整体顶层设计与架构逻辑，明确各模块协作关系与边界</a:t>
            </a:r>
            <a:endParaRPr lang="en-US" sz="1400" b="0" i="0" u="none" strike="noStrike">
              <a:solidFill>
                <a:schemeClr val="tx1">
                  <a:alpha val="5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8"/>
          <p:cNvSpPr/>
          <p:nvPr>
            <p:custDataLst>
              <p:tags r:id="rId5"/>
            </p:custDataLst>
          </p:nvPr>
        </p:nvSpPr>
        <p:spPr>
          <a:xfrm>
            <a:off x="762000" y="48260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34" name="AutoShape 9"/>
          <p:cNvSpPr/>
          <p:nvPr>
            <p:custDataLst>
              <p:tags r:id="rId6"/>
            </p:custDataLst>
          </p:nvPr>
        </p:nvSpPr>
        <p:spPr>
          <a:xfrm>
            <a:off x="2286000" y="4902200"/>
            <a:ext cx="863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创新方法</a:t>
            </a:r>
            <a:r>
              <a:rPr lang="en-US" sz="1400" b="0" i="0" u="none" strike="noStrike">
                <a:solidFill>
                  <a:schemeClr val="tx1">
                    <a:alpha val="5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｜ 深度剖析本次方案的差异化解决思路与技术应用创新点</a:t>
            </a:r>
            <a:endParaRPr lang="en-US" sz="1400" b="0" i="0" u="none" strike="noStrike">
              <a:solidFill>
                <a:schemeClr val="tx1">
                  <a:alpha val="5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10"/>
          <p:cNvSpPr/>
          <p:nvPr>
            <p:custDataLst>
              <p:tags r:id="rId7"/>
            </p:custDataLst>
          </p:nvPr>
        </p:nvSpPr>
        <p:spPr>
          <a:xfrm>
            <a:off x="762000" y="5842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06B6D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4800"/>
          </a:p>
        </p:txBody>
      </p:sp>
      <p:sp>
        <p:nvSpPr>
          <p:cNvPr id="36" name="AutoShape 11"/>
          <p:cNvSpPr/>
          <p:nvPr>
            <p:custDataLst>
              <p:tags r:id="rId8"/>
            </p:custDataLst>
          </p:nvPr>
        </p:nvSpPr>
        <p:spPr>
          <a:xfrm>
            <a:off x="2286000" y="5918200"/>
            <a:ext cx="863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后续规划</a:t>
            </a:r>
            <a:r>
              <a:rPr lang="en-US" sz="1400" b="0" i="0" u="none" strike="noStrike">
                <a:solidFill>
                  <a:schemeClr val="tx1">
                    <a:alpha val="5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｜ 制定下一阶段实施计划、资源配置需求及预期交付目标</a:t>
            </a:r>
            <a:endParaRPr lang="en-US" sz="1400" b="0" i="0" u="none" strike="noStrike">
              <a:solidFill>
                <a:schemeClr val="tx1">
                  <a:alpha val="5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2"/>
          <p:cNvSpPr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4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4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8000" y="2884805"/>
            <a:ext cx="6096000" cy="1088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lnSpc>
                <a:spcPct val="108000"/>
              </a:lnSpc>
              <a:defRPr/>
            </a:pPr>
            <a:r>
              <a:rPr lang="en-US" sz="6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zh-CN" altLang="en-US" sz="6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目前</a:t>
            </a:r>
            <a:r>
              <a:rPr lang="zh-CN" altLang="en-US" sz="6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进展</a:t>
            </a:r>
            <a:endParaRPr lang="zh-CN" altLang="en-US" sz="60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目前进展 - 整体概述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12001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508000" y="1778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单源增强系统搭建完成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413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成功搭建基于知识图谱（KG）的单源信息增强体系，实现了将知识图谱作为唯一外部信息源，赋能图像检索任务的增强生成，打通图谱数据到生成结果的应用链路。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3810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多源增强系统落地实现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4445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在单源基础上完成多源系统的扩展，正式新增 Web 全网搜索作为第二关键信息源，解决单一图谱数据覆盖面有限的问题，支持更复杂、实时性要求更高的检索场景。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5715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配套能力：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同步完成本地自动化评估框架的搭建工作，现已支持语义相似度维度的多维度指标计算，确保新增信息源的引入质量可控。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90177">
            <a:off x="4000500" y="3994159"/>
            <a:ext cx="444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731000" y="1778000"/>
            <a:ext cx="2286000" cy="1651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858000" y="19685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Task 1 单源系统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858000" y="2540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3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98000" y="1778000"/>
            <a:ext cx="2286000" cy="1651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525000" y="19685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Task 2 多源系统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0" y="25400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zh-CN" altLang="en-US" sz="32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731000" y="4191000"/>
            <a:ext cx="4953000" cy="16510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858000" y="4445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评估体系状态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858000" y="5080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本地评估框架已</a:t>
            </a:r>
            <a:r>
              <a:rPr 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全部</a:t>
            </a:r>
            <a:r>
              <a:rPr lang="zh-CN" altLang="en-US" sz="1600" b="1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，支持多维度语义相似度分析，等待接入多源数据进行全面性能校验。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目前进展 - Task 1 单源增强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1136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508000" y="1651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任务定义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2860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仅依赖图像检索 API 作为唯一数据源，通过 CLIP 特征匹配知识图谱 (KG) 实体，提取结构化属性后，再经由大语言模型 (VLM) 整合生成最终的自然语言答案。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3810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核心挑战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4445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重点解决大模型生成过程中的幻觉问题。当检索结果不足以支撑结论或信息存在不确定性时，系统需具备识别能力并主动返回标准回复</a:t>
            </a:r>
            <a:r>
              <a:rPr lang="en-US" sz="14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“I don't know”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，拒绝编造事实。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5715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运行环境：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全面适配 Mac Apple Silicon (MLX) 本地推理与 Linux NVIDIA GPU (vLLM) 云端高并发加速双平台。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90450">
            <a:off x="4064000" y="3930659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731000" y="1651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技术实现流水线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731000" y="2540000"/>
            <a:ext cx="1397000" cy="762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查询分类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382000" y="2540000"/>
            <a:ext cx="1397000" cy="762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KG检索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0033000" y="2540000"/>
            <a:ext cx="1397000" cy="762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规则提取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731000" y="3810000"/>
            <a:ext cx="1397000" cy="762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文本提取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0" y="3810000"/>
            <a:ext cx="1397000" cy="762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Prompt构建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0033000" y="3810000"/>
            <a:ext cx="1397000" cy="762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  <a:p>
            <a:pPr marL="0"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VLM生成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731000" y="5207000"/>
            <a:ext cx="4699000" cy="762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后处理：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结果清洗、幻觉检测与最终回复生成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目前进展 - Task 2 多源增强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1263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508000" y="1778000"/>
            <a:ext cx="533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任务定义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5400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核心目标是构建一套完善的多源 RAG 系统，打破单一数据源的局限。该系统将同时对接两个关键信息源：结构化的</a:t>
            </a: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图像知识图谱(KG)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与非结构化的</a:t>
            </a: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通用网页搜索(Web)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，实现对不同形态信息的统一高效利用。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4191000"/>
            <a:ext cx="533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系统检索模式升级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50800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传统模式：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单源信息检索，覆盖范围受限，易产生信息盲区。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429000" y="50800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当前模式：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双源协同互补，结构化+非结构化信息结合，显著提升回答准确率与可信度。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89889">
            <a:off x="3937000" y="3930659"/>
            <a:ext cx="431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477000" y="1778000"/>
            <a:ext cx="520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核心新增能力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540000"/>
            <a:ext cx="520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 Web 搜索管线：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新增网页信息获取、内容清洗与结构化解析的端到端流程，实现互联网信息的实时接入。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3556000"/>
            <a:ext cx="520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双源融合策略：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设计智能路由分发与内容优先级合并算法，平衡图谱与网页信息权重，避免信息冗余冲突。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4572000"/>
            <a:ext cx="520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查询感知重构：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根据用户输入意图自动生成针对 KG 和 Web 的差异化检索关键词，提升召回精准度。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5588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工程规范优化：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重构 Agent 基类实现统一接口，Task1/Task2 逻辑解耦隔离，便于快速开展对照实验。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目前进展 - 性能数据对比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508000" y="1524000"/>
          <a:ext cx="10668000" cy="4000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302000"/>
                <a:gridCol w="3683000"/>
                <a:gridCol w="3683000"/>
              </a:tblGrid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11182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评估指标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11182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Task 1 (2B模型, 50条)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11182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Task 2 (KG+Web, 100条)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</a:tr>
              <a:tr h="825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Accuracy (准确率)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B4A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31.73%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5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Missing Rate (缺失率)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71.15%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B4A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32.69%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5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Hallucination Rate (幻觉率)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28.85%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35.58%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5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Truthfulness Score (真实性得分)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6B7280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-0.29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B4A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-0.0385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AutoShape 4"/>
          <p:cNvSpPr/>
          <p:nvPr/>
        </p:nvSpPr>
        <p:spPr>
          <a:xfrm>
            <a:off x="508000" y="5842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评估备注：</a:t>
            </a: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本次评估采用本地语义相似度计算模型（all-MiniLM-L6-v2）进行结果校验，判定阈值设置为 0.30；数据样本分别为 Task 1（50条）与 Task 2（100条），体现了在引入 KG+Web 混合检索后的初步效果差异。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540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6000" b="1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总体框架</a:t>
            </a:r>
            <a:endParaRPr lang="en-US" sz="6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总体框架 - Task 1 单源架构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12001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508000" y="1778000"/>
            <a:ext cx="2476500" cy="1397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635000" y="19685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任务输入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接收外部输入：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待分析图片 + 用户问题文本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1500" y="22733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3556000" y="1778000"/>
            <a:ext cx="2476500" cy="1397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683000" y="19685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查询分类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识别问题类型：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视觉描述 / 知识问答 / 逻辑推理 / 属性对比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59500" y="22733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604000" y="1778000"/>
            <a:ext cx="2476500" cy="1397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731000" y="19685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KG检索过滤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知识库向量匹配：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CLIP特征计算 + 相似度阈值筛选候选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7500" y="22733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652000" y="1778000"/>
            <a:ext cx="2032000" cy="1397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779000" y="19685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规则提取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基于业务规则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快速抽取关键信息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0" y="3556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08000" y="4318000"/>
            <a:ext cx="2476500" cy="1397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35000" y="45085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结构化提取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解析检索结果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生成标准结构化文本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11500" y="48133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3556000" y="4318000"/>
            <a:ext cx="2476500" cy="1397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3683000" y="45085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Prompt构建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整合上下文信息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构造Few-shot提示词模板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59500" y="48133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604000" y="4318000"/>
            <a:ext cx="2476500" cy="1397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731000" y="45085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VLM推理生成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调用Qwen2-VL模型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结合数据生成初步回答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07500" y="48133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652000" y="4318000"/>
            <a:ext cx="2032000" cy="1397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779000" y="4508500"/>
            <a:ext cx="177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D4E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最终结果输出</a:t>
            </a:r>
            <a:endParaRPr lang="en-US" sz="1100"/>
          </a:p>
          <a:p>
            <a:pPr marL="0" indent="0" algn="l">
              <a:lnSpc>
                <a:spcPct val="100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结果后处理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 置信度评估 → 答案/IDK</a:t>
            </a:r>
            <a:endParaRPr lang="en-US" sz="12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508000" y="6096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注：该单源架构通过统一流程将视觉信息与知识推理结合，利用 KG 检索缩小推理范围，并依托 VLM 生成最终回答，确保结果准确性与可解释性。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381000"/>
            <a:ext cx="11176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总体框架 - Task 2 多源架构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143000"/>
            <a:ext cx="35560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35000" y="1270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多模态输入层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图像信息 + 用户自然语言问题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8000" y="1333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4826000" y="1143000"/>
            <a:ext cx="35560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953000" y="1270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统一查询分析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意图解析 / 核心实体抽取 / 任务分类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0" y="1333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9144000" y="1143000"/>
            <a:ext cx="25400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271000" y="1270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并行任务分发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分路触发 KG/Web 检索引擎</a:t>
            </a:r>
            <a:endParaRPr lang="en-US" sz="12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3906">
            <a:off x="508004" y="2152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508000" y="24130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▍左路：知识图谱（KG）深度检索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" y="3048000"/>
            <a:ext cx="53340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35000" y="3175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1｜相似实体召回：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CLIP 跨模态对齐计算相似度，从全量 KG 中召回相似候选实体集合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08000" y="3937000"/>
            <a:ext cx="53340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000" y="4064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2｜精筛与属性提取：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语义规则过滤噪声，保留 Top5 实体并自动提取其关键属性与关联关系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08000" y="4826000"/>
            <a:ext cx="5334000" cy="635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35000" y="4953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065F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3｜结构化输出：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将验证后的实体信息整理为标准三元组 (Subject-Predicate-Object) 数据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86249">
            <a:off x="4508500" y="3994163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350000" y="24130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▍右路：互联网（Web）实时检索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3048000"/>
            <a:ext cx="5334000" cy="6350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477000" y="3175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1｜动态查询构建：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组合核心实体名称与问题上下文，生成精准 Web 搜索引擎查询语句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3937000"/>
            <a:ext cx="5334000" cy="6350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477000" y="4064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2｜多级噪声过滤：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对返回结果进行内容去重、相关性粗筛、广告清洗等三级过滤操作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4826000"/>
            <a:ext cx="5334000" cy="6350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477000" y="4953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3｜高置信片段抽取：</a:t>
            </a:r>
            <a:r>
              <a:rPr lang="en-US" sz="12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提取 Top3 结果摘要中的关键事实片段，标记来源可信度分数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3906">
            <a:off x="508004" y="5708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508000" y="5969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7C3AE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双源知识融合：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 KG&gt;Web&gt;Image 优先级重排，构建多源上下文 Prompt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4572000" y="5969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7C3AE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VLM 统一生成：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将融合后 Prompt 输入大模型进行答案推理与初步生成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8382000" y="5969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7C3AE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后处理与校准：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双源置信度交叉校验，输出最终可靠答案</a:t>
            </a:r>
            <a:endParaRPr lang="en-US" sz="1100" b="0" i="0" u="none" strike="noStrike">
              <a:solidFill>
                <a:srgbClr val="47556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总体框架 - 代码结构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1263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508000" y="1778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核心项目目录结构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5400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CRAG_MM_Proj/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31750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i="0" u="none" strike="noStrike">
                <a:solidFill>
                  <a:schemeClr val="tx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├── agents/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(核心业务逻辑层)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3683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│     ├── base_agent.py (抽象基类)</a:t>
            </a:r>
            <a:endParaRPr lang="en-US" sz="1200" b="0" i="0" u="none" strike="noStrike">
              <a:solidFill>
                <a:srgbClr val="37415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200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│     ├──</a:t>
            </a:r>
            <a:r>
              <a:rPr lang="en-US" sz="12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task1_agent.py (单源增强)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│     ├── task2_agent.py (多源增强)</a:t>
            </a:r>
            <a:endParaRPr lang="en-US" sz="1200" b="0" i="0" u="none" strike="noStrike">
              <a:solidFill>
                <a:srgbClr val="37415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│     ├──</a:t>
            </a:r>
            <a:r>
              <a:rPr lang="en-US" sz="12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rag_agent.py (官方示例)</a:t>
            </a:r>
            <a:endParaRPr lang="en-US" sz="1200" b="0" i="0" u="none" strike="noStrike">
              <a:solidFill>
                <a:srgbClr val="37415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08000" y="4572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│     ├── mllm_rag_agent.py (获奖方案)</a:t>
            </a:r>
            <a:endParaRPr lang="en-US" sz="1200" b="0" i="0" u="none" strike="noStrike">
              <a:solidFill>
                <a:srgbClr val="37415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200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│     ├──</a:t>
            </a:r>
            <a:r>
              <a:rPr lang="en-US" sz="12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user_config.py (配置文件)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8000" y="5334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├── local_evaluation.py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# 本地效果评估脚本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├── cragmm-search-pipeline</a:t>
            </a:r>
            <a:endParaRPr lang="en-US" sz="1300" b="0" i="0" u="none" strike="noStrike">
              <a:solidFill>
                <a:srgbClr val="37415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├──</a:t>
            </a:r>
            <a:r>
              <a:rPr lang="en-US" sz="13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crag_web_result_fetcher.py </a:t>
            </a:r>
            <a:endParaRPr lang="en-US" sz="1300" b="0" i="0" u="none" strike="noStrike">
              <a:solidFill>
                <a:srgbClr val="37415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300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├──</a:t>
            </a:r>
            <a:r>
              <a:rPr lang="en-US" sz="13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crag_batch_iterator.py</a:t>
            </a:r>
            <a:endParaRPr lang="en-US" sz="1300" b="0" i="0" u="none" strike="noStrike">
              <a:solidFill>
                <a:srgbClr val="37415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10" name="Connector 10"/>
          <p:cNvCxnSpPr/>
          <p:nvPr/>
        </p:nvCxnSpPr>
        <p:spPr>
          <a:xfrm rot="5389889">
            <a:off x="41910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0" y="1803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366000" y="1778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高度模块化的工程架构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858000" y="2540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将检索、增强、评估、数据获取等环节进行独立解耦，各组件之间通过清晰的职责划分协同工作。这种设计不仅降低了单个模块的维护成本，也极大便利了对不同算法方案进行快速扩展与横向对比。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8000" y="4089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366000" y="4064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统一接口的 Agent 机制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858000" y="4826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所有业务逻辑 Agent 均继承自统一的 BaseAgent 抽象基类，封装了标准执行流程。用户在切换单源增强、多源增强等不同策略时，无需修改核心调用逻辑，仅通过调整 user_config.py 配置文件即可完成策略替换。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858000" y="5969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核心价值：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标准化与灵活性并重，兼顾生产稳定性与算法迭代效率。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15895" y="2884805"/>
            <a:ext cx="6096000" cy="1088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lnSpc>
                <a:spcPct val="108000"/>
              </a:lnSpc>
              <a:defRPr/>
            </a:pPr>
            <a:r>
              <a:rPr lang="en-US" sz="6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zh-CN" altLang="en-US" sz="6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创新方法</a:t>
            </a:r>
            <a:endParaRPr lang="en-US" altLang="en-US" sz="60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创新方法 - 查询增强与优先级策略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1263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508000" y="17780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查询感知的KG实体名增强Web搜索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7940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面临痛点：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传统搜索直接使用用户原始问题文本进行检索时，由于问题句式复杂、关键词模糊等原因，容易导致召回结果相关性低，无法精准定位到有效信息。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41910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解决方法：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利用知识图谱（KG）智能识别用户问题中的核心实体，将识别出的实体名与原问题文本拼接作为新的搜索词。例如将“Organic Valley Milk”拼接到“what brand is this milk”中。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5588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实施效果：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显著提升Web搜索结果的精准度，使返回内容直接聚焦于核心实体，避免无关信息干扰。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90450">
            <a:off x="3810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350000" y="17780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分层信息源优先级策略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7940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面临痛点：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系统在整合知识图谱、Web搜索和图像多源信息时，不同渠道的信息可能出现互相矛盾的情况，缺乏统一的判断标准。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41910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解决方法：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通过System Prompt明确制定严格的信息权重规则：知识图谱结构化数据优先级最高，其次是Web搜索结果，最后是图像内容，并赋予图像最终的否决权以保证结论严谨。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5588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实施效果：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有效解决多源信息冲突问题，保障输出内容的一致性与可信度，建立清晰的决策逻辑。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创新方法 - Web过滤与自适应检索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1263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508000" y="17780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多模式 Web 噪声过滤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667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三级递进式过滤管线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34290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格式清洗：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去除原始 HTML 标签，对超长冗余内容进行截断，还原文本骨架，确保输入基础整洁。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44450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精准内容过滤：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通过正则规则定向剔除 Cookie 声明、广告推广语、无关哈希值等干扰信息，聚焦有效内容。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5461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相关性重排：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 BGE 模型计算内容与查询的相关性，仅保留 Top3 高相关分段，最大程度压缩无效信息。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90177">
            <a:off x="3873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350000" y="17780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查询类型自适应检索策略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2667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轻量分类驱动的动态决策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3429000"/>
            <a:ext cx="533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视觉类查询（Visual）：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采用宽松阈值策略，直接跳过 Web 检索步骤，依托本地视觉能力快速响应，降低延迟。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4572000"/>
            <a:ext cx="533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知识/推理类查询：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启用严格校验阈值，强制触发完整的 Web 检索流程，确保回答所需的事实性、对比性信息全面准确。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5715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★ 核心优势：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无需额外调用大型语言模型进行意图识别，完全通过轻量级分类器实现策略动态切换，兼顾效率与准确性。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创新方法 - 双通道生成与置信度校准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1212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508000" y="17780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规则提取+VLM双通道答案生成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6670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路径A：快速精准匹配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依托知识图谱（KG）的结构化属性进行规则匹配，直接从图谱中提取精准取值，实现毫秒级的极速响应。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40640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路径B：全面信息生成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利用VLM（视觉语言模型）深度结合多源异构信息（文本、图像等）进行综合推理，覆盖规则之外的复杂长尾场景。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5461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智能融合回退逻辑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优先采用VLM进行深度生成，当检测到模型输出内容无效、冲突或无结论时，自动回退到规则提取路径保障结果可用性。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90177">
            <a:off x="3873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477000" y="1778000"/>
            <a:ext cx="520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双源联合置信度校准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667000"/>
            <a:ext cx="520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强制“IDK”阻断幻觉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针对知识型问题，若知识图谱无匹配条目且全网搜索无相关有效结果；或图谱匹配分数过低且网络无补充时，系统强制返回“IDK（不知道）”，彻底杜绝编造式幻觉。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477000" y="4191000"/>
            <a:ext cx="520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双源交叉验证机制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同步计算知识图谱的匹配置信度与全网搜索的信息相关度，对两个来源的结果进行交叉比对和加权判断，而非单一依赖模型生成。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477000" y="54610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校准后的可靠性提升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相比单一模型输出，双源联合校准让回答错误率显著降低，大幅提升系统在专业知识问答中的可信度与可依赖度。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8000" y="2884805"/>
            <a:ext cx="6096000" cy="1088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lnSpc>
                <a:spcPct val="108000"/>
              </a:lnSpc>
              <a:defRPr/>
            </a:pPr>
            <a:r>
              <a:rPr lang="en-US" sz="6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zh-CN" altLang="en-US" sz="6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后续规划</a:t>
            </a:r>
            <a:endParaRPr lang="en-US" altLang="en-US" sz="60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后续规划 - 短期优化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1263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508000" y="1778000"/>
            <a:ext cx="355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P0 核心必做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667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升级 VLM 模型能力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将模型从 2B 提升至 7B/11B 参数规模，夯实视觉理解底座。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4064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预期收益：</a:t>
            </a:r>
            <a:r>
              <a:rPr lang="en-US" sz="13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Accuracy +15~20%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实施难度：</a:t>
            </a:r>
            <a:r>
              <a:rPr lang="en-US" sz="1300" b="0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★ 低风险可控</a:t>
            </a:r>
            <a:endParaRPr lang="en-US" sz="1300" b="0" i="0" u="none" strike="noStrike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5334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启用 GPT-4o-mini 评估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引入可信的外部语义评估基线，建立统一、量化的质量衡量标准。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90450">
            <a:off x="2159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826000" y="1778000"/>
            <a:ext cx="355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P1 重点优化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826000" y="2667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 System Prompt 工程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重构系统指令并补充 Few-shot 高质量示例，规范模型输出逻辑。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826000" y="4064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预期收益：</a:t>
            </a:r>
            <a:r>
              <a:rPr lang="en-US" sz="1300" b="0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Hallucination -5~8%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实施难度：</a:t>
            </a:r>
            <a:r>
              <a:rPr lang="en-US" sz="1300" b="0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★★ 需多轮测试调优</a:t>
            </a:r>
            <a:endParaRPr lang="en-US" sz="1300" b="0" i="0" u="none" strike="noStrike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826000" y="5334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接入图像摘要生成模块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增强对图片内容的结构化提取能力，解决纯文本召回信息缺失问题。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5390450">
            <a:off x="5842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8509000" y="1778000"/>
            <a:ext cx="3175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P2 体验完善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509000" y="2667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 内容深度获取优化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升级爬取策略，获取完整网页内容替代 Snippet，丰富上下文素材。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509000" y="4064000"/>
            <a:ext cx="317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预期收益：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Accuracy +3~5%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400"/>
              </a:spcBef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实施难度：</a:t>
            </a:r>
            <a:r>
              <a:rPr lang="en-US" sz="1300" b="0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★ 数据清洗成本增加</a:t>
            </a:r>
            <a:endParaRPr lang="en-US" sz="1300" b="0" i="0" u="none" strike="noStrike">
              <a:solidFill>
                <a:srgbClr val="F59E0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509000" y="5334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执行说明：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作为短期收尾工作，待核心模块稳定后进行上线前的最后数据能力补齐。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后续规划 - 中长期规划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06">
            <a:off x="508004" y="1212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508000" y="16510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中期规划：架构与精度升级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540000"/>
            <a:ext cx="533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核心模型重构：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 BGE-reranker 模型进行重排序优化，重构检索链路，预计实现整体检索精度提升 10%~15%。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3683000"/>
            <a:ext cx="533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双层检索策略：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落地 Coarse-to-Fine（粗排-精排）两阶段检索流程，并配套 Query Rewriting 查询改写机制，解决用户问题的模糊与歧义。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48260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动态协同机制：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建立自适应检索深度调节规则，根据用户历史行为实时调整召回范围；同步启动多 Agent 基础协同框架搭建。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90177">
            <a:off x="3873500" y="3867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350000" y="1651000"/>
            <a:ext cx="5334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长期规划：深度竞争力构建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540000"/>
            <a:ext cx="533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幻觉专项治理：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部署幻觉检测与自动纠错模块，结合 Self-Consistency 自一致性投票校验逻辑，目标将回答幻觉率降低 10%。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3683000"/>
            <a:ext cx="533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置信度量化体系：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开发并上线 Calibration 答案校准模型，量化输出每一条回答的置信度分数，提升系统输出的可信赖度。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4826000"/>
            <a:ext cx="533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跨场景能力突破：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基于对比学习对 VLM 模型进行针对性微调；完成核心能力从现有任务到 Task3 多轮对话复杂场景的跨任务迁移落地。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" y="6159500"/>
            <a:ext cx="1117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注：规划以周为单位进行里程碑设定，各阶段目标达成后将启动内部验收与数据复盘，确保迭代效果可量化、可评估。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609600"/>
            <a:ext cx="109728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8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后续规划 - 技术债务清理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978">
            <a:off x="609604" y="1390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20320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168400" y="2032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修复 cragmm-search-pipeline 分页 Bug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 ChromaDB 分页逻辑进行彻底排查与修复，移除当前临时使用的 patch 补丁，确保数据分页结果准确无误。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3937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168400" y="3937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 Task 1 与 Task 2 公共逻辑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梳理两个任务模块间重复的代码逻辑，将其抽象并封装至 common.py 中，减少冗余维护成本，提升后续迭代效率。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87722">
            <a:off x="4318000" y="3803661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02400" y="2032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61200" y="2032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完善核心模块单元测试覆盖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为知识图谱（KG）提取、Web内容过滤及置信度评估三个核心环节补充单元测试用例，保障基础功能的稳定性。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02400" y="3937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061200" y="3937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建立自动化评估验证机制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600"/>
              </a:spcBef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编写自动化评估脚本，配置 CI/CD 触发规则，确保每次代码提交时自动运行 100 条验证集数据，防止回归问题。</a:t>
            </a:r>
            <a:endParaRPr lang="en-US" sz="14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09600" y="58420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通过上述四项关键技术债务清理工作，旨在建立标准化的工程规范，消除潜在技术风险，为后续功能迭代与系统扩展打下坚实基础。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004820" y="2004060"/>
            <a:ext cx="6096000" cy="1420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lnSpc>
                <a:spcPct val="108000"/>
              </a:lnSpc>
              <a:defRPr/>
            </a:pPr>
            <a:r>
              <a:rPr lang="zh-CN" altLang="en-US" sz="80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zh-CN" altLang="en-US" sz="8000" b="1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0,&quot;left&quot;:60,&quot;top&quot;:190,&quot;width&quot;:800}"/>
</p:tagLst>
</file>

<file path=ppt/tags/tag2.xml><?xml version="1.0" encoding="utf-8"?>
<p:tagLst xmlns:p="http://schemas.openxmlformats.org/presentationml/2006/main">
  <p:tag name="KSO_WM_DIAGRAM_VIRTUALLY_FRAME" val="{&quot;height&quot;:320,&quot;left&quot;:60,&quot;top&quot;:190,&quot;width&quot;:800}"/>
</p:tagLst>
</file>

<file path=ppt/tags/tag3.xml><?xml version="1.0" encoding="utf-8"?>
<p:tagLst xmlns:p="http://schemas.openxmlformats.org/presentationml/2006/main">
  <p:tag name="KSO_WM_DIAGRAM_VIRTUALLY_FRAME" val="{&quot;height&quot;:320,&quot;left&quot;:60,&quot;top&quot;:190,&quot;width&quot;:800}"/>
</p:tagLst>
</file>

<file path=ppt/tags/tag4.xml><?xml version="1.0" encoding="utf-8"?>
<p:tagLst xmlns:p="http://schemas.openxmlformats.org/presentationml/2006/main">
  <p:tag name="KSO_WM_DIAGRAM_VIRTUALLY_FRAME" val="{&quot;height&quot;:320,&quot;left&quot;:60,&quot;top&quot;:190,&quot;width&quot;:800}"/>
</p:tagLst>
</file>

<file path=ppt/tags/tag5.xml><?xml version="1.0" encoding="utf-8"?>
<p:tagLst xmlns:p="http://schemas.openxmlformats.org/presentationml/2006/main">
  <p:tag name="KSO_WM_DIAGRAM_VIRTUALLY_FRAME" val="{&quot;height&quot;:320,&quot;left&quot;:60,&quot;top&quot;:190,&quot;width&quot;:800}"/>
</p:tagLst>
</file>

<file path=ppt/tags/tag6.xml><?xml version="1.0" encoding="utf-8"?>
<p:tagLst xmlns:p="http://schemas.openxmlformats.org/presentationml/2006/main">
  <p:tag name="KSO_WM_DIAGRAM_VIRTUALLY_FRAME" val="{&quot;height&quot;:320,&quot;left&quot;:60,&quot;top&quot;:190,&quot;width&quot;:800}"/>
</p:tagLst>
</file>

<file path=ppt/tags/tag7.xml><?xml version="1.0" encoding="utf-8"?>
<p:tagLst xmlns:p="http://schemas.openxmlformats.org/presentationml/2006/main">
  <p:tag name="KSO_WM_DIAGRAM_VIRTUALLY_FRAME" val="{&quot;height&quot;:320,&quot;left&quot;:60,&quot;top&quot;:190,&quot;width&quot;:800}"/>
</p:tagLst>
</file>

<file path=ppt/tags/tag8.xml><?xml version="1.0" encoding="utf-8"?>
<p:tagLst xmlns:p="http://schemas.openxmlformats.org/presentationml/2006/main">
  <p:tag name="KSO_WM_DIAGRAM_VIRTUALLY_FRAME" val="{&quot;height&quot;:320,&quot;left&quot;:60,&quot;top&quot;:190,&quot;width&quot;:80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5702</Words>
  <Application>WPS 文字</Application>
  <PresentationFormat/>
  <Paragraphs>381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20</vt:i4>
      </vt:variant>
    </vt:vector>
  </HeadingPairs>
  <TitlesOfParts>
    <vt:vector size="42" baseType="lpstr">
      <vt:lpstr>Arial</vt:lpstr>
      <vt:lpstr>宋体</vt:lpstr>
      <vt:lpstr>Wingdings</vt:lpstr>
      <vt:lpstr>Arial</vt:lpstr>
      <vt:lpstr>Noto Sans SC</vt:lpstr>
      <vt:lpstr>冬青黑体简体中文</vt:lpstr>
      <vt:lpstr>微软雅黑</vt:lpstr>
      <vt:lpstr>汉仪旗黑</vt:lpstr>
      <vt:lpstr>宋体</vt:lpstr>
      <vt:lpstr>Arial Unicode MS</vt:lpstr>
      <vt:lpstr>汉仪书宋二KW</vt:lpstr>
      <vt:lpstr>Consolas</vt:lpstr>
      <vt:lpstr>Hiragino Sans</vt:lpstr>
      <vt:lpstr>Apple Color Emoji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5_默认主题</vt:lpstr>
      <vt:lpstr>6_默认主题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徐麟阁</cp:lastModifiedBy>
  <cp:revision>4</cp:revision>
  <dcterms:created xsi:type="dcterms:W3CDTF">2026-07-16T07:26:10Z</dcterms:created>
  <dcterms:modified xsi:type="dcterms:W3CDTF">2026-07-16T07:26:10Z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{"Label":"1","ContentProducer":"001191110102MACQD9K64010000","ProduceID":"7662702337026608364","ReservedCode1":"","ContentPropagator":"","PropagateID":"","ReservedCode2":""}</vt:lpwstr>
  </property>
  <property fmtid="{D5CDD505-2E9C-101B-9397-08002B2CF9AE}" pid="3" name="KSOProductBuildVer">
    <vt:lpwstr>2052-6.10.1.8873</vt:lpwstr>
  </property>
  <property fmtid="{D5CDD505-2E9C-101B-9397-08002B2CF9AE}" pid="4" name="ICV">
    <vt:lpwstr>0D772CFAF42D47AAB903EAD448356EEE_13</vt:lpwstr>
  </property>
</Properties>
</file>