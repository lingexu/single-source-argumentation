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6" r:id="rId2"/>
    <p:sldId id="805" r:id="rId3"/>
    <p:sldId id="807" r:id="rId4"/>
    <p:sldId id="808" r:id="rId5"/>
    <p:sldId id="817" r:id="rId6"/>
    <p:sldId id="816" r:id="rId7"/>
    <p:sldId id="75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99FF"/>
    <a:srgbClr val="333399"/>
    <a:srgbClr val="FFCC66"/>
    <a:srgbClr val="363080"/>
    <a:srgbClr val="5850A5"/>
    <a:srgbClr val="342F61"/>
    <a:srgbClr val="463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6" autoAdjust="0"/>
    <p:restoredTop sz="81905" autoAdjust="0"/>
  </p:normalViewPr>
  <p:slideViewPr>
    <p:cSldViewPr>
      <p:cViewPr varScale="1">
        <p:scale>
          <a:sx n="104" d="100"/>
          <a:sy n="104" d="100"/>
        </p:scale>
        <p:origin x="11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1944" y="-77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5" Type="http://schemas.openxmlformats.org/officeDocument/2006/relationships/slide" Target="slides/slide6.xml"/><Relationship Id="rId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fld id="{DACBE78B-7933-4D32-A0A4-8F55B5E1DB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3171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fld id="{28D1A85D-26C0-4D1E-B01E-886A6A50C9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7091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fld id="{7469FDA2-BB4F-4684-8557-6B74B656EAE9}" type="slidenum">
              <a:rPr lang="zh-CN" altLang="en-US" smtClean="0"/>
              <a:pPr eaLnBrk="1" hangingPunct="1">
                <a:defRPr/>
              </a:pPr>
              <a:t>1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07AA158-8D8D-4ADD-B003-59BCB861ED8D}" type="slidenum">
              <a:rPr lang="en-US" altLang="zh-CN" smtClean="0"/>
              <a:pPr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4553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07AA158-8D8D-4ADD-B003-59BCB861ED8D}" type="slidenum">
              <a:rPr lang="en-US" altLang="zh-CN" smtClean="0"/>
              <a:pPr eaLnBrk="1" hangingPunct="1"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777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07AA158-8D8D-4ADD-B003-59BCB861ED8D}" type="slidenum">
              <a:rPr lang="en-US" altLang="zh-CN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912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07AA158-8D8D-4ADD-B003-59BCB861ED8D}" type="slidenum">
              <a:rPr lang="en-US" altLang="zh-CN" smtClean="0"/>
              <a:pPr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0555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07AA158-8D8D-4ADD-B003-59BCB861ED8D}" type="slidenum">
              <a:rPr lang="en-US" altLang="zh-CN" smtClean="0"/>
              <a:pPr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265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24209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605588"/>
            <a:ext cx="9139238" cy="2778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-3175" y="2420938"/>
            <a:ext cx="9147175" cy="2159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Picture 30" descr="01100000000019114303052191565"/>
          <p:cNvPicPr>
            <a:picLocks noChangeAspect="1" noChangeArrowheads="1"/>
          </p:cNvPicPr>
          <p:nvPr userDrawn="1"/>
        </p:nvPicPr>
        <p:blipFill>
          <a:blip r:embed="rId2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361950"/>
            <a:ext cx="1277938" cy="1655763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446031" y="296863"/>
            <a:ext cx="6937471" cy="1655762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294045" y="3100384"/>
            <a:ext cx="5659515" cy="3030578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605588"/>
            <a:ext cx="2133600" cy="279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605588"/>
            <a:ext cx="2895600" cy="279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605588"/>
            <a:ext cx="2133600" cy="279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A2D74F1-4AA5-4D49-B309-B2395290D7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1631972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0" descr="01100000000019114303052191565"/>
          <p:cNvPicPr>
            <a:picLocks noChangeAspect="1" noChangeArrowheads="1"/>
          </p:cNvPicPr>
          <p:nvPr userDrawn="1"/>
        </p:nvPicPr>
        <p:blipFill>
          <a:blip r:embed="rId2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106363"/>
            <a:ext cx="746125" cy="9667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3725" y="142830"/>
            <a:ext cx="7754987" cy="838245"/>
          </a:xfrm>
        </p:spPr>
        <p:txBody>
          <a:bodyPr/>
          <a:lstStyle>
            <a:lvl1pPr>
              <a:defRPr sz="3600" b="1"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1484313"/>
            <a:ext cx="5283216" cy="460851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F0648-A782-48A2-B9D4-99C47456FF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921337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0" descr="01100000000019114303052191565"/>
          <p:cNvPicPr>
            <a:picLocks noChangeAspect="1" noChangeArrowheads="1"/>
          </p:cNvPicPr>
          <p:nvPr userDrawn="1"/>
        </p:nvPicPr>
        <p:blipFill>
          <a:blip r:embed="rId2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106363"/>
            <a:ext cx="746125" cy="9667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 rot="1866568">
            <a:off x="8353425" y="5732463"/>
            <a:ext cx="503238" cy="7000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99979" y="1384272"/>
            <a:ext cx="7521678" cy="507530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75000"/>
                  </a:schemeClr>
                </a:solidFill>
                <a:latin typeface="黑体" pitchFamily="2" charset="-122"/>
                <a:ea typeface="黑体" pitchFamily="2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993725" y="142830"/>
            <a:ext cx="7754987" cy="838245"/>
          </a:xfrm>
        </p:spPr>
        <p:txBody>
          <a:bodyPr/>
          <a:lstStyle>
            <a:lvl1pPr>
              <a:defRPr sz="3600" b="1">
                <a:solidFill>
                  <a:schemeClr val="tx2">
                    <a:lumMod val="95000"/>
                  </a:schemeClr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419B8-EECE-42C1-981A-483D17804C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7405111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0" descr="01100000000019114303052191565"/>
          <p:cNvPicPr>
            <a:picLocks noChangeAspect="1" noChangeArrowheads="1"/>
          </p:cNvPicPr>
          <p:nvPr userDrawn="1"/>
        </p:nvPicPr>
        <p:blipFill>
          <a:blip r:embed="rId2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106363"/>
            <a:ext cx="746125" cy="9667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 rot="1866568">
            <a:off x="8353425" y="5732463"/>
            <a:ext cx="503238" cy="7000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6492" y="1484313"/>
            <a:ext cx="3749670" cy="4608512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0357" y="1484313"/>
            <a:ext cx="3764015" cy="4608512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993725" y="260350"/>
            <a:ext cx="7754987" cy="720725"/>
          </a:xfrm>
        </p:spPr>
        <p:txBody>
          <a:bodyPr/>
          <a:lstStyle>
            <a:lvl1pPr>
              <a:defRPr b="1"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B3F3C-1805-4AC6-B3A1-A6454B2F0E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156656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0" descr="01100000000019114303052191565"/>
          <p:cNvPicPr>
            <a:picLocks noChangeAspect="1" noChangeArrowheads="1"/>
          </p:cNvPicPr>
          <p:nvPr userDrawn="1"/>
        </p:nvPicPr>
        <p:blipFill>
          <a:blip r:embed="rId2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106363"/>
            <a:ext cx="746125" cy="9667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 rot="1866568">
            <a:off x="8353425" y="5732463"/>
            <a:ext cx="503238" cy="7000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993725" y="260350"/>
            <a:ext cx="7754987" cy="720725"/>
          </a:xfrm>
        </p:spPr>
        <p:txBody>
          <a:bodyPr/>
          <a:lstStyle>
            <a:lvl1pPr>
              <a:defRPr b="1"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519057" y="1384272"/>
            <a:ext cx="3724326" cy="5075307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2" name="文本占位符 2"/>
          <p:cNvSpPr>
            <a:spLocks noGrp="1"/>
          </p:cNvSpPr>
          <p:nvPr>
            <p:ph type="body" idx="13"/>
          </p:nvPr>
        </p:nvSpPr>
        <p:spPr>
          <a:xfrm>
            <a:off x="4425948" y="1384272"/>
            <a:ext cx="3724326" cy="5075307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A0CD7-584E-4CF3-B5F7-D381EA67F1B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6313005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0" descr="01100000000019114303052191565"/>
          <p:cNvPicPr>
            <a:picLocks noChangeAspect="1" noChangeArrowheads="1"/>
          </p:cNvPicPr>
          <p:nvPr userDrawn="1"/>
        </p:nvPicPr>
        <p:blipFill>
          <a:blip r:embed="rId2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106363"/>
            <a:ext cx="746125" cy="9667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1"/>
          <p:cNvSpPr txBox="1">
            <a:spLocks/>
          </p:cNvSpPr>
          <p:nvPr userDrawn="1"/>
        </p:nvSpPr>
        <p:spPr bwMode="auto">
          <a:xfrm>
            <a:off x="993775" y="260350"/>
            <a:ext cx="775493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单击此处编辑母版标题样式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 rot="1866568">
            <a:off x="8353425" y="5732463"/>
            <a:ext cx="503238" cy="7000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797084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6586-3BAA-48E6-B493-FE380327D7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8629105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533401"/>
            <a:ext cx="8229600" cy="55927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76472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ChangeArrowheads="1"/>
          </p:cNvSpPr>
          <p:nvPr/>
        </p:nvSpPr>
        <p:spPr bwMode="auto">
          <a:xfrm>
            <a:off x="-3175" y="0"/>
            <a:ext cx="9144000" cy="1196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10"/>
          <p:cNvSpPr>
            <a:spLocks noChangeArrowheads="1"/>
          </p:cNvSpPr>
          <p:nvPr/>
        </p:nvSpPr>
        <p:spPr bwMode="auto">
          <a:xfrm>
            <a:off x="-3175" y="1089025"/>
            <a:ext cx="9147175" cy="2159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915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91513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605588"/>
            <a:ext cx="9139238" cy="2778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61138"/>
            <a:ext cx="213360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61138"/>
            <a:ext cx="289560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accent2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61138"/>
            <a:ext cx="213360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accent2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425E915D-6F75-41A3-AE4B-905571985BB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6088" y="296863"/>
            <a:ext cx="6937375" cy="1655762"/>
          </a:xfrm>
        </p:spPr>
        <p:txBody>
          <a:bodyPr/>
          <a:lstStyle/>
          <a:p>
            <a:pPr algn="ctr" eaLnBrk="1" hangingPunct="1"/>
            <a:r>
              <a:rPr lang="zh-CN" altLang="zh-CN" dirty="0"/>
              <a:t>智能技术实训</a:t>
            </a:r>
            <a:r>
              <a:rPr lang="zh-CN" altLang="zh-CN" sz="4000" dirty="0"/>
              <a:t> </a:t>
            </a:r>
            <a:endParaRPr lang="zh-CN" altLang="en-US" sz="4000" b="1" dirty="0">
              <a:ea typeface="黑体" pitchFamily="49" charset="-122"/>
            </a:endParaRPr>
          </a:p>
        </p:txBody>
      </p:sp>
      <p:sp>
        <p:nvSpPr>
          <p:cNvPr id="9219" name="副标题 3"/>
          <p:cNvSpPr>
            <a:spLocks noGrp="1"/>
          </p:cNvSpPr>
          <p:nvPr>
            <p:ph type="subTitle" idx="1"/>
          </p:nvPr>
        </p:nvSpPr>
        <p:spPr>
          <a:xfrm>
            <a:off x="737059" y="2708920"/>
            <a:ext cx="7669882" cy="28438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_GB2312"/>
                <a:ea typeface="楷体_GB2312"/>
                <a:cs typeface="楷体_GB2312"/>
              </a:rPr>
              <a:t>朱能军</a:t>
            </a:r>
            <a:endParaRPr lang="en-US" altLang="zh-CN" sz="2800" b="1" dirty="0">
              <a:latin typeface="楷体_GB2312"/>
              <a:ea typeface="楷体_GB2312"/>
              <a:cs typeface="楷体_GB231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_GB2312"/>
                <a:ea typeface="楷体_GB2312"/>
                <a:cs typeface="楷体_GB2312"/>
              </a:rPr>
              <a:t>zhu_nj@shu.edu.cn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_GB2312"/>
                <a:ea typeface="楷体_GB2312"/>
                <a:cs typeface="楷体_GB2312"/>
              </a:rPr>
              <a:t>上海大学 计算机工程与科学学院 计</a:t>
            </a:r>
            <a:r>
              <a:rPr lang="en-US" altLang="zh-CN" sz="2800" b="1" dirty="0">
                <a:latin typeface="楷体_GB2312"/>
                <a:ea typeface="楷体_GB2312"/>
                <a:cs typeface="楷体_GB2312"/>
              </a:rPr>
              <a:t>1005</a:t>
            </a:r>
            <a:endParaRPr lang="zh-CN" altLang="en-US" sz="2800" b="1" dirty="0">
              <a:latin typeface="楷体_GB2312"/>
              <a:ea typeface="楷体_GB2312"/>
              <a:cs typeface="楷体_GB2312"/>
            </a:endParaRPr>
          </a:p>
          <a:p>
            <a:pPr>
              <a:lnSpc>
                <a:spcPct val="150000"/>
              </a:lnSpc>
            </a:pPr>
            <a:r>
              <a:rPr lang="zh-CN" altLang="zh-CN" b="1" dirty="0"/>
              <a:t>（夏季</a:t>
            </a:r>
            <a:r>
              <a:rPr lang="en-US" altLang="zh-CN" b="1" dirty="0"/>
              <a:t>1-4</a:t>
            </a:r>
            <a:r>
              <a:rPr lang="zh-CN" altLang="zh-CN" b="1" dirty="0"/>
              <a:t>周）</a:t>
            </a:r>
            <a:endParaRPr lang="en-US" altLang="zh-CN" b="1" dirty="0"/>
          </a:p>
        </p:txBody>
      </p:sp>
    </p:spTree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>
                    <a:lumMod val="95000"/>
                  </a:schemeClr>
                </a:solidFill>
                <a:latin typeface="华文彩云" pitchFamily="2" charset="-122"/>
                <a:ea typeface="华文彩云" pitchFamily="2" charset="-122"/>
              </a:rPr>
              <a:t>进度安排</a:t>
            </a:r>
            <a:endParaRPr lang="en-US" altLang="zh-CN" dirty="0">
              <a:solidFill>
                <a:schemeClr val="tx2">
                  <a:lumMod val="95000"/>
                </a:schemeClr>
              </a:solidFill>
              <a:latin typeface="华文彩云" pitchFamily="2" charset="-122"/>
              <a:ea typeface="华文彩云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BA9900-E3B2-49D9-ACAE-761B01FFB4EA}" type="datetime1">
              <a:rPr lang="zh-CN" altLang="en-US" smtClean="0"/>
              <a:t>2026/7/5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78E38-5E45-4FFB-98D0-8EC29F00F76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7B15C3-A6B4-BE4C-A582-BE7E35E46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7678"/>
            <a:ext cx="9144000" cy="192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63614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>
                    <a:lumMod val="95000"/>
                  </a:schemeClr>
                </a:solidFill>
                <a:latin typeface="华文彩云" pitchFamily="2" charset="-122"/>
                <a:ea typeface="华文彩云" pitchFamily="2" charset="-122"/>
              </a:rPr>
              <a:t>考核说明</a:t>
            </a:r>
            <a:endParaRPr lang="en-US" altLang="zh-CN" dirty="0">
              <a:solidFill>
                <a:schemeClr val="tx2">
                  <a:lumMod val="95000"/>
                </a:schemeClr>
              </a:solidFill>
              <a:latin typeface="华文彩云" pitchFamily="2" charset="-122"/>
              <a:ea typeface="华文彩云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BA9900-E3B2-49D9-ACAE-761B01FFB4EA}" type="datetime1">
              <a:rPr lang="zh-CN" altLang="en-US" smtClean="0"/>
              <a:t>2026/7/5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78E38-5E45-4FFB-98D0-8EC29F00F76C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8BA4CB-C693-56BE-8A27-8164E043CE30}"/>
              </a:ext>
            </a:extLst>
          </p:cNvPr>
          <p:cNvSpPr txBox="1"/>
          <p:nvPr/>
        </p:nvSpPr>
        <p:spPr>
          <a:xfrm>
            <a:off x="0" y="1160748"/>
            <a:ext cx="7754987" cy="5767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实训验收要求：</a:t>
            </a:r>
            <a:endParaRPr lang="en-US" altLang="zh-CN" sz="20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、验收材料：实训报告（</a:t>
            </a:r>
            <a:r>
              <a:rPr lang="en-US" altLang="zh-CN" dirty="0">
                <a:latin typeface="Times New Roman" panose="02020603050405020304" pitchFamily="18" charset="0"/>
              </a:rPr>
              <a:t>6~8</a:t>
            </a:r>
            <a:r>
              <a:rPr lang="zh-CN" altLang="en-US" dirty="0">
                <a:latin typeface="Times New Roman" panose="02020603050405020304" pitchFamily="18" charset="0"/>
              </a:rPr>
              <a:t>页）、</a:t>
            </a:r>
            <a:r>
              <a:rPr lang="en-US" altLang="zh-CN" dirty="0">
                <a:latin typeface="Times New Roman" panose="02020603050405020304" pitchFamily="18" charset="0"/>
              </a:rPr>
              <a:t>PPT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10+5</a:t>
            </a:r>
            <a:r>
              <a:rPr lang="zh-CN" altLang="en-US" dirty="0">
                <a:latin typeface="Times New Roman" panose="02020603050405020304" pitchFamily="18" charset="0"/>
              </a:rPr>
              <a:t>分钟）、源码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533400">
              <a:lnSpc>
                <a:spcPct val="150000"/>
              </a:lnSpc>
            </a:pPr>
            <a:endParaRPr lang="en-US" altLang="zh-CN" sz="1200" dirty="0">
              <a:latin typeface="Times New Roman" panose="02020603050405020304" pitchFamily="18" charset="0"/>
            </a:endParaRPr>
          </a:p>
          <a:p>
            <a:pPr marL="53340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期末验收标准（</a:t>
            </a:r>
            <a:r>
              <a:rPr lang="en-US" altLang="zh-CN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75%</a:t>
            </a:r>
            <a:r>
              <a:rPr lang="zh-CN" altLang="en-US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）：</a:t>
            </a:r>
            <a:endParaRPr lang="en-US" altLang="zh-CN" sz="20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解决方案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完整性：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35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%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解决方案</a:t>
            </a:r>
            <a:r>
              <a:rPr lang="zh-CN" alt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新颖性：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10</a:t>
            </a:r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%</a:t>
            </a:r>
          </a:p>
          <a:p>
            <a:pPr marL="533400">
              <a:lnSpc>
                <a:spcPct val="15000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实训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汇报表现：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15%</a:t>
            </a:r>
          </a:p>
          <a:p>
            <a:pPr marL="533400">
              <a:lnSpc>
                <a:spcPct val="15000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、实训</a:t>
            </a:r>
            <a:r>
              <a:rPr lang="zh-CN" alt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报告质量：</a:t>
            </a:r>
            <a:r>
              <a:rPr lang="en-US" altLang="zh-C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15%</a:t>
            </a:r>
          </a:p>
          <a:p>
            <a:pPr marL="533400">
              <a:lnSpc>
                <a:spcPct val="150000"/>
              </a:lnSpc>
            </a:pPr>
            <a:endParaRPr lang="en-US" altLang="zh-CN" sz="1200" b="1" dirty="0">
              <a:solidFill>
                <a:srgbClr val="C00000"/>
              </a:solidFill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平时成绩（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25%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）：</a:t>
            </a:r>
            <a:endParaRPr lang="en-US" altLang="zh-CN" sz="20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、平时汇报：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15%</a:t>
            </a:r>
          </a:p>
          <a:p>
            <a:pPr marL="533400">
              <a:lnSpc>
                <a:spcPct val="15000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、周报（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次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5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%</a:t>
            </a:r>
          </a:p>
          <a:p>
            <a:pPr marL="533400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、课堂表现：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5%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A13BD19-7C5D-B6F4-4D7D-05470E660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447" y="2492896"/>
            <a:ext cx="2509553" cy="37170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1275518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>
                    <a:lumMod val="95000"/>
                  </a:schemeClr>
                </a:solidFill>
                <a:latin typeface="华文彩云" pitchFamily="2" charset="-122"/>
                <a:ea typeface="华文彩云" pitchFamily="2" charset="-122"/>
              </a:rPr>
              <a:t>实训题目</a:t>
            </a:r>
            <a:endParaRPr lang="en-US" altLang="zh-CN" dirty="0">
              <a:solidFill>
                <a:schemeClr val="tx2">
                  <a:lumMod val="95000"/>
                </a:schemeClr>
              </a:solidFill>
              <a:latin typeface="华文彩云" pitchFamily="2" charset="-122"/>
              <a:ea typeface="华文彩云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BA9900-E3B2-49D9-ACAE-761B01FFB4EA}" type="datetime1">
              <a:rPr lang="zh-CN" altLang="en-US" smtClean="0"/>
              <a:t>2026/7/5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78E38-5E45-4FFB-98D0-8EC29F00F76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0EA0FD-BCB6-4C47-A83C-878D50BBE692}"/>
              </a:ext>
            </a:extLst>
          </p:cNvPr>
          <p:cNvSpPr/>
          <p:nvPr/>
        </p:nvSpPr>
        <p:spPr>
          <a:xfrm>
            <a:off x="161386" y="1370449"/>
            <a:ext cx="88212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[1]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赛题</a:t>
            </a:r>
            <a:endParaRPr lang="en-US" altLang="zh-CN" dirty="0">
              <a:solidFill>
                <a:srgbClr val="000000"/>
              </a:solidFill>
              <a:latin typeface="Helvetica" pitchFamily="2" charset="0"/>
            </a:endParaRPr>
          </a:p>
          <a:p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latin typeface="Helvetica" pitchFamily="2" charset="0"/>
              </a:rPr>
              <a:t>单源增强（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Single-source Augmentation</a:t>
            </a:r>
            <a:r>
              <a:rPr lang="zh-CN" altLang="en-US" b="1" dirty="0">
                <a:solidFill>
                  <a:srgbClr val="000000"/>
                </a:solidFill>
                <a:latin typeface="Helvetica" pitchFamily="2" charset="0"/>
              </a:rPr>
              <a:t>）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📌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目标：测试多模态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RAG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系统的基础回答生成能力。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💡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系统将通过一个图像检索模拟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API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， 访问一个“基于图像的结构化知识图谱 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mock KG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）”。 该知识图谱以图像为索引， 存储与之相关的结构化信息（如属性、标签等）。模型需使用该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API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返回的相似图像及其结构化数据，辅助完成回答生成。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👉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难度系数：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1.0</a:t>
            </a:r>
          </a:p>
          <a:p>
            <a:endParaRPr lang="zh-CN" altLang="en-US" dirty="0">
              <a:solidFill>
                <a:srgbClr val="000000"/>
              </a:solidFill>
              <a:latin typeface="Helvetica" pitchFamily="2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latin typeface="Helvetica" pitchFamily="2" charset="0"/>
              </a:rPr>
              <a:t>多源增强（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Multi-source Augmentation</a:t>
            </a:r>
            <a:r>
              <a:rPr lang="zh-CN" altLang="en-US" b="1" dirty="0">
                <a:solidFill>
                  <a:srgbClr val="000000"/>
                </a:solidFill>
                <a:latin typeface="Helvetica" pitchFamily="2" charset="0"/>
              </a:rPr>
              <a:t>）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📌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目标：测试模型综合多个信息源的能力。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在任务一的基础上，新增一个“网页检索模拟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API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”作为第二个知识获取渠道。返回的网页内容可能包含回答所需信息，但同时也可能夹杂噪声或不相关内容。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🧠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模型需要具备信息筛选、 跨源融合与噪声鲁棒性，在多源信息中识别最有价值的支持依据，生成准确合理的回答。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👉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难度系数：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1.2</a:t>
            </a:r>
            <a:endParaRPr lang="zh-CN" altLang="en-US" dirty="0">
              <a:solidFill>
                <a:srgbClr val="00000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65489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>
                    <a:lumMod val="95000"/>
                  </a:schemeClr>
                </a:solidFill>
                <a:latin typeface="华文彩云" pitchFamily="2" charset="-122"/>
                <a:ea typeface="华文彩云" pitchFamily="2" charset="-122"/>
              </a:rPr>
              <a:t>实训题目</a:t>
            </a:r>
            <a:endParaRPr lang="en-US" altLang="zh-CN" dirty="0">
              <a:solidFill>
                <a:schemeClr val="tx2">
                  <a:lumMod val="95000"/>
                </a:schemeClr>
              </a:solidFill>
              <a:latin typeface="华文彩云" pitchFamily="2" charset="-122"/>
              <a:ea typeface="华文彩云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BA9900-E3B2-49D9-ACAE-761B01FFB4EA}" type="datetime1">
              <a:rPr lang="zh-CN" altLang="en-US" smtClean="0"/>
              <a:t>2026/7/5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78E38-5E45-4FFB-98D0-8EC29F00F76C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0EA0FD-BCB6-4C47-A83C-878D50BBE692}"/>
              </a:ext>
            </a:extLst>
          </p:cNvPr>
          <p:cNvSpPr/>
          <p:nvPr/>
        </p:nvSpPr>
        <p:spPr>
          <a:xfrm>
            <a:off x="161386" y="1592796"/>
            <a:ext cx="88212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Helvetica" pitchFamily="2" charset="0"/>
              </a:rPr>
              <a:t>、多轮问答（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Multi-turn QA</a:t>
            </a:r>
            <a:r>
              <a:rPr lang="zh-CN" altLang="en-US" b="1" dirty="0">
                <a:solidFill>
                  <a:srgbClr val="000000"/>
                </a:solidFill>
                <a:latin typeface="Helvetica" pitchFamily="2" charset="0"/>
              </a:rPr>
              <a:t>）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📌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目标：测试系统对多轮对话上下文的理解与连贯性。此任务模拟人与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助手之间的连续对话，每轮对话包含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至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轮问答。除首轮外，后续问题可能需要，也可能不需要图像信息来生成回答。模型需在历史对话语境下做出自然、上下文一致的回应，避免信息冲突或丢失上下文。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👉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难度系数：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1.5</a:t>
            </a:r>
          </a:p>
          <a:p>
            <a:endParaRPr lang="zh-CN" altLang="en-US" dirty="0">
              <a:solidFill>
                <a:srgbClr val="000000"/>
              </a:solidFill>
              <a:latin typeface="Helvetica" pitchFamily="2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000000"/>
                </a:solidFill>
                <a:latin typeface="Helvetica" pitchFamily="2" charset="0"/>
              </a:rPr>
              <a:t>、团队自拟</a:t>
            </a: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📌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要求：赛题需要跟智能技术相关；竞赛时间周期需要覆盖本夏季学期；参赛成员全部为本班学生。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Apple Color Emoji" pitchFamily="2" charset="0"/>
              </a:rPr>
              <a:t>👉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难度系数：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1.0</a:t>
            </a:r>
            <a:endParaRPr lang="zh-CN" alt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2371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>
                    <a:lumMod val="95000"/>
                  </a:schemeClr>
                </a:solidFill>
                <a:latin typeface="华文彩云" pitchFamily="2" charset="-122"/>
                <a:ea typeface="华文彩云" pitchFamily="2" charset="-122"/>
              </a:rPr>
              <a:t>实训题目</a:t>
            </a:r>
            <a:r>
              <a:rPr lang="en-US" altLang="zh-CN" dirty="0">
                <a:solidFill>
                  <a:schemeClr val="tx2">
                    <a:lumMod val="95000"/>
                  </a:schemeClr>
                </a:solidFill>
                <a:latin typeface="华文彩云" pitchFamily="2" charset="-122"/>
                <a:ea typeface="华文彩云" pitchFamily="2" charset="-122"/>
              </a:rPr>
              <a:t>-</a:t>
            </a:r>
            <a:r>
              <a:rPr lang="zh-CN" altLang="en-US" dirty="0">
                <a:solidFill>
                  <a:schemeClr val="tx2">
                    <a:lumMod val="95000"/>
                  </a:schemeClr>
                </a:solidFill>
                <a:latin typeface="华文彩云" pitchFamily="2" charset="-122"/>
                <a:ea typeface="华文彩云" pitchFamily="2" charset="-122"/>
              </a:rPr>
              <a:t>工具</a:t>
            </a:r>
            <a:endParaRPr lang="en-US" altLang="zh-CN" dirty="0">
              <a:solidFill>
                <a:schemeClr val="tx2">
                  <a:lumMod val="95000"/>
                </a:schemeClr>
              </a:solidFill>
              <a:latin typeface="华文彩云" pitchFamily="2" charset="-122"/>
              <a:ea typeface="华文彩云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BA9900-E3B2-49D9-ACAE-761B01FFB4EA}" type="datetime1">
              <a:rPr lang="zh-CN" altLang="en-US" smtClean="0"/>
              <a:t>2026/7/5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78E38-5E45-4FFB-98D0-8EC29F00F76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B99C95-71C3-9E9D-4453-806AE7E418A1}"/>
              </a:ext>
            </a:extLst>
          </p:cNvPr>
          <p:cNvSpPr txBox="1"/>
          <p:nvPr/>
        </p:nvSpPr>
        <p:spPr>
          <a:xfrm>
            <a:off x="527212" y="1520788"/>
            <a:ext cx="7092788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、学习通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智慧实习实训平台</a:t>
            </a:r>
            <a:endParaRPr lang="en-US" altLang="zh-CN" dirty="0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、学术搜索引擎：如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Google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Scholar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【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论文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】</a:t>
            </a:r>
          </a:p>
          <a:p>
            <a:pPr marL="533400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、源码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Github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；开源博客</a:t>
            </a:r>
            <a:endParaRPr lang="en-US" altLang="zh-CN" dirty="0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、计算资源：自己电脑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</a:rPr>
              <a:t>云平台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实验室</a:t>
            </a:r>
            <a:endParaRPr lang="en-US" altLang="zh-CN" dirty="0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pPr marL="533400">
              <a:lnSpc>
                <a:spcPct val="150000"/>
              </a:lnSpc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、大模型（千问、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GLM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、</a:t>
            </a:r>
            <a:r>
              <a:rPr lang="en-US" altLang="zh-CN" dirty="0" err="1">
                <a:latin typeface="Times New Roman" panose="02020603050405020304" pitchFamily="18" charset="0"/>
                <a:cs typeface="宋体" panose="02010600030101010101" pitchFamily="2" charset="-122"/>
              </a:rPr>
              <a:t>MiniMax</a:t>
            </a:r>
            <a:r>
              <a:rPr lang="zh-CN" altLang="en-US" dirty="0">
                <a:latin typeface="Times New Roman" panose="02020603050405020304" pitchFamily="18" charset="0"/>
                <a:cs typeface="宋体" panose="0201060003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宋体" panose="02010600030101010101" pitchFamily="2" charset="-122"/>
              </a:rPr>
              <a:t>Kimi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1046599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D:\Program Files\Common Files\Microsoft Shared\Clipart\cagcat50\BS00559_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63" y="1700213"/>
            <a:ext cx="4560887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WordArt 5"/>
          <p:cNvSpPr>
            <a:spLocks noChangeArrowheads="1" noChangeShapeType="1" noTextEdit="1"/>
          </p:cNvSpPr>
          <p:nvPr/>
        </p:nvSpPr>
        <p:spPr bwMode="auto">
          <a:xfrm>
            <a:off x="2627313" y="4797425"/>
            <a:ext cx="5029200" cy="11430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/>
                <a:ea typeface="华文行楷"/>
              </a:rPr>
              <a:t>学习进步！</a:t>
            </a: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3366"/>
      </a:dk1>
      <a:lt1>
        <a:srgbClr val="6698CC"/>
      </a:lt1>
      <a:dk2>
        <a:srgbClr val="FFFFFF"/>
      </a:dk2>
      <a:lt2>
        <a:srgbClr val="B3CCE6"/>
      </a:lt2>
      <a:accent1>
        <a:srgbClr val="336599"/>
      </a:accent1>
      <a:accent2>
        <a:srgbClr val="2E4C6B"/>
      </a:accent2>
      <a:accent3>
        <a:srgbClr val="B8CAE2"/>
      </a:accent3>
      <a:accent4>
        <a:srgbClr val="002A56"/>
      </a:accent4>
      <a:accent5>
        <a:srgbClr val="ADB8CA"/>
      </a:accent5>
      <a:accent6>
        <a:srgbClr val="294460"/>
      </a:accent6>
      <a:hlink>
        <a:srgbClr val="0B54A3"/>
      </a:hlink>
      <a:folHlink>
        <a:srgbClr val="0B73E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2ECF6"/>
        </a:solidFill>
        <a:ln w="762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2ECF6"/>
        </a:solidFill>
        <a:ln w="762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5A58"/>
        </a:dk1>
        <a:lt1>
          <a:srgbClr val="FFFFFF"/>
        </a:lt1>
        <a:dk2>
          <a:srgbClr val="008080"/>
        </a:dk2>
        <a:lt2>
          <a:srgbClr val="FFFFCC"/>
        </a:lt2>
        <a:accent1>
          <a:srgbClr val="006462"/>
        </a:accent1>
        <a:accent2>
          <a:srgbClr val="008080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007373"/>
        </a:accent6>
        <a:hlink>
          <a:srgbClr val="00ACA8"/>
        </a:hlink>
        <a:folHlink>
          <a:srgbClr val="00444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342F61"/>
        </a:dk1>
        <a:lt1>
          <a:srgbClr val="FFFFFF"/>
        </a:lt1>
        <a:dk2>
          <a:srgbClr val="8794D5"/>
        </a:dk2>
        <a:lt2>
          <a:srgbClr val="FFFFFF"/>
        </a:lt2>
        <a:accent1>
          <a:srgbClr val="504D80"/>
        </a:accent1>
        <a:accent2>
          <a:srgbClr val="9791CA"/>
        </a:accent2>
        <a:accent3>
          <a:srgbClr val="C3C8E7"/>
        </a:accent3>
        <a:accent4>
          <a:srgbClr val="DADADA"/>
        </a:accent4>
        <a:accent5>
          <a:srgbClr val="B3B2C0"/>
        </a:accent5>
        <a:accent6>
          <a:srgbClr val="8883B7"/>
        </a:accent6>
        <a:hlink>
          <a:srgbClr val="322D5A"/>
        </a:hlink>
        <a:folHlink>
          <a:srgbClr val="544C9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DBA6"/>
        </a:lt1>
        <a:dk2>
          <a:srgbClr val="000000"/>
        </a:dk2>
        <a:lt2>
          <a:srgbClr val="FFAC31"/>
        </a:lt2>
        <a:accent1>
          <a:srgbClr val="FF9900"/>
        </a:accent1>
        <a:accent2>
          <a:srgbClr val="FFCC80"/>
        </a:accent2>
        <a:accent3>
          <a:srgbClr val="FFEAD0"/>
        </a:accent3>
        <a:accent4>
          <a:srgbClr val="000000"/>
        </a:accent4>
        <a:accent5>
          <a:srgbClr val="FFCAAA"/>
        </a:accent5>
        <a:accent6>
          <a:srgbClr val="E7B973"/>
        </a:accent6>
        <a:hlink>
          <a:srgbClr val="E68A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66CCCC"/>
        </a:dk1>
        <a:lt1>
          <a:srgbClr val="FFFFFF"/>
        </a:lt1>
        <a:dk2>
          <a:srgbClr val="2E6B6B"/>
        </a:dk2>
        <a:lt2>
          <a:srgbClr val="2E6B6B"/>
        </a:lt2>
        <a:accent1>
          <a:srgbClr val="9ADEDC"/>
        </a:accent1>
        <a:accent2>
          <a:srgbClr val="45A3A1"/>
        </a:accent2>
        <a:accent3>
          <a:srgbClr val="ADBABA"/>
        </a:accent3>
        <a:accent4>
          <a:srgbClr val="DADADA"/>
        </a:accent4>
        <a:accent5>
          <a:srgbClr val="CAECEB"/>
        </a:accent5>
        <a:accent6>
          <a:srgbClr val="3E9391"/>
        </a:accent6>
        <a:hlink>
          <a:srgbClr val="45A3A1"/>
        </a:hlink>
        <a:folHlink>
          <a:srgbClr val="9ADED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B3CCE6"/>
        </a:dk1>
        <a:lt1>
          <a:srgbClr val="FFFFFF"/>
        </a:lt1>
        <a:dk2>
          <a:srgbClr val="6698CC"/>
        </a:dk2>
        <a:lt2>
          <a:srgbClr val="FFFFFF"/>
        </a:lt2>
        <a:accent1>
          <a:srgbClr val="336599"/>
        </a:accent1>
        <a:accent2>
          <a:srgbClr val="2E4C6B"/>
        </a:accent2>
        <a:accent3>
          <a:srgbClr val="B8CAE2"/>
        </a:accent3>
        <a:accent4>
          <a:srgbClr val="DADADA"/>
        </a:accent4>
        <a:accent5>
          <a:srgbClr val="ADB8CA"/>
        </a:accent5>
        <a:accent6>
          <a:srgbClr val="294460"/>
        </a:accent6>
        <a:hlink>
          <a:srgbClr val="0B54A3"/>
        </a:hlink>
        <a:folHlink>
          <a:srgbClr val="0B73E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496B2E"/>
        </a:dk1>
        <a:lt1>
          <a:srgbClr val="CCE3B5"/>
        </a:lt1>
        <a:dk2>
          <a:srgbClr val="619933"/>
        </a:dk2>
        <a:lt2>
          <a:srgbClr val="F2F8ED"/>
        </a:lt2>
        <a:accent1>
          <a:srgbClr val="94CC66"/>
        </a:accent1>
        <a:accent2>
          <a:srgbClr val="FFFFFF"/>
        </a:accent2>
        <a:accent3>
          <a:srgbClr val="E2EFD7"/>
        </a:accent3>
        <a:accent4>
          <a:srgbClr val="3D5A26"/>
        </a:accent4>
        <a:accent5>
          <a:srgbClr val="C8E2B8"/>
        </a:accent5>
        <a:accent6>
          <a:srgbClr val="E7E7E7"/>
        </a:accent6>
        <a:hlink>
          <a:srgbClr val="4891EA"/>
        </a:hlink>
        <a:folHlink>
          <a:srgbClr val="7AAF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3366"/>
        </a:dk1>
        <a:lt1>
          <a:srgbClr val="6698CC"/>
        </a:lt1>
        <a:dk2>
          <a:srgbClr val="FFFFFF"/>
        </a:dk2>
        <a:lt2>
          <a:srgbClr val="B3CCE6"/>
        </a:lt2>
        <a:accent1>
          <a:srgbClr val="336599"/>
        </a:accent1>
        <a:accent2>
          <a:srgbClr val="2E4C6B"/>
        </a:accent2>
        <a:accent3>
          <a:srgbClr val="B8CAE2"/>
        </a:accent3>
        <a:accent4>
          <a:srgbClr val="002A56"/>
        </a:accent4>
        <a:accent5>
          <a:srgbClr val="ADB8CA"/>
        </a:accent5>
        <a:accent6>
          <a:srgbClr val="294460"/>
        </a:accent6>
        <a:hlink>
          <a:srgbClr val="0B54A3"/>
        </a:hlink>
        <a:folHlink>
          <a:srgbClr val="0B73E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11064</TotalTime>
  <Words>547</Words>
  <Application>Microsoft Macintosh PowerPoint</Application>
  <PresentationFormat>全屏显示(4:3)</PresentationFormat>
  <Paragraphs>64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黑体</vt:lpstr>
      <vt:lpstr>华文彩云</vt:lpstr>
      <vt:lpstr>华文行楷</vt:lpstr>
      <vt:lpstr>楷体_GB2312</vt:lpstr>
      <vt:lpstr>Apple Color Emoji</vt:lpstr>
      <vt:lpstr>Arial</vt:lpstr>
      <vt:lpstr>Helvetica</vt:lpstr>
      <vt:lpstr>Times New Roman</vt:lpstr>
      <vt:lpstr>Default Design</vt:lpstr>
      <vt:lpstr>智能技术实训 </vt:lpstr>
      <vt:lpstr>进度安排</vt:lpstr>
      <vt:lpstr>考核说明</vt:lpstr>
      <vt:lpstr>实训题目</vt:lpstr>
      <vt:lpstr>实训题目</vt:lpstr>
      <vt:lpstr>实训题目-工具</vt:lpstr>
      <vt:lpstr>PowerPoint 演示文稿</vt:lpstr>
    </vt:vector>
  </TitlesOfParts>
  <Company>Presentation Helper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 menus</dc:title>
  <dc:creator>Jonty</dc:creator>
  <cp:lastModifiedBy>Nengjun Zhu</cp:lastModifiedBy>
  <cp:revision>901</cp:revision>
  <dcterms:created xsi:type="dcterms:W3CDTF">2005-03-15T10:04:38Z</dcterms:created>
  <dcterms:modified xsi:type="dcterms:W3CDTF">2026-07-05T07:30:46Z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www.presentationhelper.co.uk</vt:lpwstr>
  </property>
</Properties>
</file>